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3"/>
  </p:notesMasterIdLst>
  <p:sldIdLst>
    <p:sldId id="1298" r:id="rId2"/>
    <p:sldId id="1302" r:id="rId3"/>
    <p:sldId id="1303" r:id="rId4"/>
    <p:sldId id="1304" r:id="rId5"/>
    <p:sldId id="1307" r:id="rId6"/>
    <p:sldId id="1311" r:id="rId7"/>
    <p:sldId id="1306" r:id="rId8"/>
    <p:sldId id="1308" r:id="rId9"/>
    <p:sldId id="267" r:id="rId10"/>
    <p:sldId id="1310" r:id="rId11"/>
    <p:sldId id="271" r:id="rId12"/>
  </p:sldIdLst>
  <p:sldSz cx="12192000" cy="6858000"/>
  <p:notesSz cx="12192000" cy="6858000"/>
  <p:custDataLst>
    <p:tags r:id="rId14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834" y="634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  <p:pic>
        <p:nvPicPr>
          <p:cNvPr id="2" name="Picture 1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C52E178C-685F-8F57-5EBE-891CADDA36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 flipH="1">
            <a:off x="0" y="6412587"/>
            <a:ext cx="682906" cy="44541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37862" y="1465660"/>
            <a:ext cx="4521373" cy="21337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1" dirty="0">
                <a:solidFill>
                  <a:srgbClr val="213163"/>
                </a:solidFill>
              </a:rPr>
              <a:t>Autonomous Industrial IoT Digital Twin &amp; Predictive Maintenance Engine with Closed-Loop ERP Action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66671" y="4061519"/>
            <a:ext cx="4748291" cy="733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dirty="0">
                <a:solidFill>
                  <a:srgbClr val="213163"/>
                </a:solidFill>
              </a:rPr>
              <a:t>Likith D T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213163"/>
                </a:solidFill>
              </a:rPr>
              <a:t>Kruthin 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070131" y="5990723"/>
            <a:ext cx="4699247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Under the mentorship of,</a:t>
            </a:r>
          </a:p>
          <a:p>
            <a:r>
              <a:rPr lang="en-US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M</a:t>
            </a:r>
            <a:r>
              <a:rPr lang="en-IN" sz="1600" i="1" dirty="0" err="1">
                <a:solidFill>
                  <a:srgbClr val="002060"/>
                </a:solidFill>
                <a:latin typeface="Times New Roman"/>
                <a:cs typeface="Times New Roman"/>
              </a:rPr>
              <a:t>entor</a:t>
            </a:r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 Name:</a:t>
            </a:r>
            <a:r>
              <a:rPr lang="en-IN" i="1" dirty="0">
                <a:solidFill>
                  <a:srgbClr val="002060"/>
                </a:solidFill>
                <a:latin typeface="Times New Roman"/>
                <a:cs typeface="Times New Roman"/>
              </a:rPr>
              <a:t> Mr. Indranil </a:t>
            </a:r>
            <a:r>
              <a:rPr lang="en-IN" i="1" dirty="0" err="1">
                <a:solidFill>
                  <a:srgbClr val="002060"/>
                </a:solidFill>
                <a:latin typeface="Times New Roman"/>
                <a:cs typeface="Times New Roman"/>
              </a:rPr>
              <a:t>Bakshi</a:t>
            </a:r>
            <a:endParaRPr lang="en-IN" dirty="0">
              <a:solidFill>
                <a:srgbClr val="00206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F410DA-0B5A-36C0-18E2-926FCDFD4CA7}"/>
              </a:ext>
            </a:extLst>
          </p:cNvPr>
          <p:cNvCxnSpPr/>
          <p:nvPr/>
        </p:nvCxnSpPr>
        <p:spPr>
          <a:xfrm>
            <a:off x="7153154" y="5822066"/>
            <a:ext cx="4143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013" y="845438"/>
            <a:ext cx="2960627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2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85343" y="1798400"/>
            <a:ext cx="5610657" cy="36933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Project Overview – Introduction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End Users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Wow Factor in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Modelling/Block Diagram/Flow of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Result/outcomes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Conclusion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Future Perspective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>
              <a:latin typeface="Arial"/>
              <a:cs typeface="Arial"/>
            </a:endParaRPr>
          </a:p>
        </p:txBody>
      </p:sp>
      <p:pic>
        <p:nvPicPr>
          <p:cNvPr id="14" name="Picture 13" descr="A blue arrow hitting a yellow and white target&#10;&#10;AI-generated content may be incorrect.">
            <a:extLst>
              <a:ext uri="{FF2B5EF4-FFF2-40B4-BE49-F238E27FC236}">
                <a16:creationId xmlns:a16="http://schemas.microsoft.com/office/drawing/2014/main" id="{D6C15AD9-CCF7-5E54-7691-52E46C42C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333" y="1794076"/>
            <a:ext cx="4038896" cy="3114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Problem Statement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66CEC1E-D414-60D6-7258-4ACDA0654F65}"/>
              </a:ext>
            </a:extLst>
          </p:cNvPr>
          <p:cNvSpPr txBox="1"/>
          <p:nvPr/>
        </p:nvSpPr>
        <p:spPr>
          <a:xfrm>
            <a:off x="874642" y="1275018"/>
            <a:ext cx="10436087" cy="77970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Unplanned equipment downtime causes production losses, safety risks, and high repair costs. Traditional maintenance is reactive or calendar-based, rather than based on real machine condition.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61E3F4-97BB-BFA9-B508-629AC605B1D6}"/>
              </a:ext>
            </a:extLst>
          </p:cNvPr>
          <p:cNvSpPr txBox="1"/>
          <p:nvPr/>
        </p:nvSpPr>
        <p:spPr>
          <a:xfrm>
            <a:off x="6095999" y="2291315"/>
            <a:ext cx="5403575" cy="424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rgbClr val="213163"/>
                </a:solidFill>
                <a:latin typeface="Arial"/>
                <a:cs typeface="Arial"/>
                <a:sym typeface="Arial"/>
              </a:rPr>
              <a:t>Problems</a:t>
            </a:r>
            <a:endParaRPr lang="en-US" sz="5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Failures are often detected after damage has occurred.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Fixed-interval maintenance may replace healthy parts too early.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Maintenance teams lack real-time asset-health visibility.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Alerts do not automatically become SAP work orders.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Spare-part availability is checked manually.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IoT/AI systems and SAP ERP workflows remain disconnected.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50E21B6-42B1-FD92-6928-D80956DB63D9}"/>
              </a:ext>
            </a:extLst>
          </p:cNvPr>
          <p:cNvSpPr/>
          <p:nvPr/>
        </p:nvSpPr>
        <p:spPr>
          <a:xfrm>
            <a:off x="612913" y="2427404"/>
            <a:ext cx="5158409" cy="3975652"/>
          </a:xfrm>
          <a:prstGeom prst="round2DiagRect">
            <a:avLst>
              <a:gd name="adj1" fmla="val 4667"/>
              <a:gd name="adj2" fmla="val 0"/>
            </a:avLst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Project overview - Introduction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07E3F00-B8A1-E3E6-46F3-9CBDC445523A}"/>
              </a:ext>
            </a:extLst>
          </p:cNvPr>
          <p:cNvSpPr txBox="1"/>
          <p:nvPr/>
        </p:nvSpPr>
        <p:spPr>
          <a:xfrm>
            <a:off x="705678" y="1205445"/>
            <a:ext cx="10694505" cy="77970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The project creates a closed-loop predictive-maintenance system that connects physical equipment, cloud AI, and SAP S/4HANA.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683BF-41A2-8242-287A-D75EA3235017}"/>
              </a:ext>
            </a:extLst>
          </p:cNvPr>
          <p:cNvSpPr txBox="1"/>
          <p:nvPr/>
        </p:nvSpPr>
        <p:spPr>
          <a:xfrm>
            <a:off x="844826" y="5118650"/>
            <a:ext cx="10555357" cy="166821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Pico W/ESP32 collects vibration, temperature, and current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 is sent to AWS IoT Core through MQTT.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AWS Lambda processes data and extracts FFT-based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Deep-learning models detect anomalies and estimate RUL.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Agentic AI decides the required maintenance 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SAP PM creates work orders; SAP MM verifies spare parts.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SAP Fiori displays asset health and maintenance status.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70721-5950-27E8-8005-3353A2CCA40F}"/>
              </a:ext>
            </a:extLst>
          </p:cNvPr>
          <p:cNvSpPr/>
          <p:nvPr/>
        </p:nvSpPr>
        <p:spPr>
          <a:xfrm>
            <a:off x="696000" y="2003140"/>
            <a:ext cx="10800000" cy="311550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End </a:t>
            </a:r>
            <a:r>
              <a:rPr lang="en-IN" sz="2200" b="1" dirty="0">
                <a:solidFill>
                  <a:srgbClr val="213163"/>
                </a:solidFill>
              </a:rPr>
              <a:t>User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938976A-48BF-02EA-7BFA-5075C8725DD1}"/>
              </a:ext>
            </a:extLst>
          </p:cNvPr>
          <p:cNvSpPr txBox="1"/>
          <p:nvPr/>
        </p:nvSpPr>
        <p:spPr>
          <a:xfrm>
            <a:off x="876000" y="5552162"/>
            <a:ext cx="10440000" cy="77970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Primary users are maintenance engineers, planners, and plant managers who need early failure warnings and automated SAP maintenance workflows.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79F54-32B7-A035-FD66-B10F0D13C910}"/>
              </a:ext>
            </a:extLst>
          </p:cNvPr>
          <p:cNvSpPr/>
          <p:nvPr/>
        </p:nvSpPr>
        <p:spPr>
          <a:xfrm>
            <a:off x="1056000" y="1402080"/>
            <a:ext cx="10080000" cy="396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>
                <a:solidFill>
                  <a:srgbClr val="213163"/>
                </a:solidFill>
              </a:rPr>
              <a:t>Wow factor</a:t>
            </a:r>
            <a:endParaRPr lang="en-US" sz="2000" b="1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D0735C1-3598-53C0-CB0C-6CCC862D16E4}"/>
              </a:ext>
            </a:extLst>
          </p:cNvPr>
          <p:cNvSpPr txBox="1"/>
          <p:nvPr/>
        </p:nvSpPr>
        <p:spPr>
          <a:xfrm>
            <a:off x="1056000" y="1311901"/>
            <a:ext cx="1008000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Not just a prediction dashboard – </a:t>
            </a:r>
            <a:r>
              <a:rPr lang="en-US" b="1" dirty="0">
                <a:latin typeface="Arial"/>
                <a:cs typeface="Arial"/>
              </a:rPr>
              <a:t>“an autonomous SAP-driven maintenance engine”</a:t>
            </a:r>
            <a:r>
              <a:rPr lang="en-US" dirty="0"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9F8192-AA43-0396-1F9F-E7BEFA451D17}"/>
              </a:ext>
            </a:extLst>
          </p:cNvPr>
          <p:cNvSpPr/>
          <p:nvPr/>
        </p:nvSpPr>
        <p:spPr>
          <a:xfrm>
            <a:off x="1056000" y="1798320"/>
            <a:ext cx="10080000" cy="306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F66F9-6B51-3622-6801-289A474A5DE7}"/>
              </a:ext>
            </a:extLst>
          </p:cNvPr>
          <p:cNvSpPr txBox="1"/>
          <p:nvPr/>
        </p:nvSpPr>
        <p:spPr>
          <a:xfrm>
            <a:off x="876000" y="4958080"/>
            <a:ext cx="10440000" cy="1620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Closed-loop ERP action: AI alerts automatically create SAP PM work orders.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Multi-sensor digital twin for live asset-health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FFT-based vibration analysis for early fault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LSTM Autoencoder for anomaly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CNN-LSTM model for RUL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Agentic AI for diagnosis, inventory checking, and scheduling.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SAP MM automatically checks spare parts and raises requisitions.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Modelling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8705B-E26B-3C2F-A2EB-155B161C478B}"/>
              </a:ext>
            </a:extLst>
          </p:cNvPr>
          <p:cNvSpPr txBox="1"/>
          <p:nvPr/>
        </p:nvSpPr>
        <p:spPr>
          <a:xfrm>
            <a:off x="5242560" y="2873936"/>
            <a:ext cx="6781800" cy="393037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Edge layer: </a:t>
            </a:r>
            <a:br>
              <a:rPr lang="en-US" sz="1400" dirty="0"/>
            </a:br>
            <a:r>
              <a:rPr lang="en-US" sz="1400" dirty="0"/>
              <a:t>Pico W/ESP32, MPU-6050, DS18B20, ACS712, MQTT.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Cloud layer: </a:t>
            </a:r>
            <a:br>
              <a:rPr lang="en-US" sz="1400" dirty="0"/>
            </a:br>
            <a:r>
              <a:rPr lang="en-US" sz="1400" dirty="0"/>
              <a:t>AWS IoT Core, Lambda, S3, Timestream/DynamoDB.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AI layer: </a:t>
            </a:r>
            <a:br>
              <a:rPr lang="en-US" sz="1400" dirty="0"/>
            </a:br>
            <a:r>
              <a:rPr lang="en-US" sz="1400" dirty="0"/>
              <a:t>FFT features, LSTM Autoencoder, 1D-CNN, CNN-LSTM RUL.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/>
              <a:t>MLOps</a:t>
            </a:r>
            <a:r>
              <a:rPr lang="en-US" sz="1400" b="1" dirty="0"/>
              <a:t> layer: </a:t>
            </a:r>
            <a:br>
              <a:rPr lang="en-US" sz="1400" dirty="0"/>
            </a:br>
            <a:r>
              <a:rPr lang="en-US" sz="1400" dirty="0"/>
              <a:t>DVC, </a:t>
            </a:r>
            <a:r>
              <a:rPr lang="en-US" sz="1400" dirty="0" err="1"/>
              <a:t>MLflow</a:t>
            </a:r>
            <a:r>
              <a:rPr lang="en-US" sz="1400" dirty="0"/>
              <a:t>, Evidently AI.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Agentic layer: </a:t>
            </a:r>
            <a:br>
              <a:rPr lang="en-US" sz="1400" dirty="0"/>
            </a:br>
            <a:r>
              <a:rPr lang="en-US" sz="1400" dirty="0"/>
              <a:t>Diagnostic, Inventory, and Scheduler agents.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SAP layer: </a:t>
            </a:r>
            <a:br>
              <a:rPr lang="en-US" sz="1400" dirty="0"/>
            </a:br>
            <a:r>
              <a:rPr lang="en-US" sz="1400" dirty="0"/>
              <a:t>SAP BTP, OData, S/4HANA PM, MM, Fiori.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5796E-292B-0017-AEB1-5184B4B1FE4F}"/>
              </a:ext>
            </a:extLst>
          </p:cNvPr>
          <p:cNvSpPr/>
          <p:nvPr/>
        </p:nvSpPr>
        <p:spPr>
          <a:xfrm>
            <a:off x="381953" y="590195"/>
            <a:ext cx="11232763" cy="4750363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Result / </a:t>
            </a:r>
            <a:r>
              <a:rPr lang="en-IN" sz="2200" b="1" dirty="0">
                <a:solidFill>
                  <a:srgbClr val="213163"/>
                </a:solidFill>
              </a:rPr>
              <a:t>Outcomes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D88F72F-9CDB-BA74-F623-E56EFFA44E46}"/>
              </a:ext>
            </a:extLst>
          </p:cNvPr>
          <p:cNvSpPr txBox="1"/>
          <p:nvPr/>
        </p:nvSpPr>
        <p:spPr>
          <a:xfrm>
            <a:off x="876000" y="6347320"/>
            <a:ext cx="1044000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Early fault detection → SAP PM work order → spare-part readiness → reduced unplanned downtime.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636204-C4B5-5D98-FF12-A299C7A19E8E}"/>
              </a:ext>
            </a:extLst>
          </p:cNvPr>
          <p:cNvSpPr/>
          <p:nvPr/>
        </p:nvSpPr>
        <p:spPr>
          <a:xfrm>
            <a:off x="876000" y="1259840"/>
            <a:ext cx="10440000" cy="504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31183" y="927350"/>
            <a:ext cx="5904091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2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6B000-237D-0FED-3FF0-5FE978FF8E88}"/>
              </a:ext>
            </a:extLst>
          </p:cNvPr>
          <p:cNvGrpSpPr/>
          <p:nvPr/>
        </p:nvGrpSpPr>
        <p:grpSpPr>
          <a:xfrm>
            <a:off x="6877050" y="1711251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a16:creationId xmlns:a16="http://schemas.microsoft.com/office/drawing/2014/main"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7357E5D4-E88F-37E5-74E7-633F944B11CE}"/>
              </a:ext>
            </a:extLst>
          </p:cNvPr>
          <p:cNvSpPr txBox="1"/>
          <p:nvPr/>
        </p:nvSpPr>
        <p:spPr>
          <a:xfrm>
            <a:off x="397378" y="1663036"/>
            <a:ext cx="5760000" cy="20261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This project demonstrates a complete Industry 4.0 predictive-maintenance solution that connects physical equipment, cloud AI, agentic intelligence, and SAP S/4HANA. It converts sensor anomalies into automated SAP PM work orders and SAP MM spare-part actions.</a:t>
            </a:r>
            <a:endParaRPr dirty="0"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92B06A-A87C-6D01-5699-4958F8198500}"/>
              </a:ext>
            </a:extLst>
          </p:cNvPr>
          <p:cNvSpPr/>
          <p:nvPr/>
        </p:nvSpPr>
        <p:spPr>
          <a:xfrm>
            <a:off x="1776000" y="1271684"/>
            <a:ext cx="8640000" cy="342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196" b="-103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385" y="959582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60DEBBB-AD2B-766E-32FE-AB5BCF243F01}"/>
              </a:ext>
            </a:extLst>
          </p:cNvPr>
          <p:cNvSpPr txBox="1"/>
          <p:nvPr/>
        </p:nvSpPr>
        <p:spPr>
          <a:xfrm>
            <a:off x="1596000" y="5221922"/>
            <a:ext cx="9000000" cy="1620000"/>
          </a:xfrm>
          <a:prstGeom prst="rect">
            <a:avLst/>
          </a:prstGeom>
        </p:spPr>
        <p:txBody>
          <a:bodyPr vert="horz" wrap="square" lIns="0" tIns="0" rIns="0" bIns="0" numCol="2" rtlCol="0" anchor="t">
            <a:spAutoFit/>
          </a:bodyPr>
          <a:lstStyle/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Extend to multiple assets and plants.</a:t>
            </a:r>
          </a:p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Add edge AI using TensorFlow Lite Micro.</a:t>
            </a:r>
          </a:p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Integrate PLC, SCADA, and OPC-UA systems.</a:t>
            </a:r>
          </a:p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Add computer vision for visual inspection.</a:t>
            </a:r>
          </a:p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Use generative AI for maintenance-report generation.</a:t>
            </a:r>
          </a:p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Implement predictive spare-part demand forecasting.</a:t>
            </a:r>
          </a:p>
          <a:p>
            <a:pPr marL="283464" indent="-283464" algn="l">
              <a:lnSpc>
                <a:spcPct val="150000"/>
              </a:lnSpc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1400" dirty="0">
                <a:latin typeface="Arial"/>
                <a:cs typeface="Arial"/>
              </a:rPr>
              <a:t>Build a mobile SAP Fiori app for technicians.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1AC876BE-FF7B-3770-5C50-2915F91B8A6F}"/>
              </a:ext>
            </a:extLst>
          </p:cNvPr>
          <p:cNvSpPr txBox="1">
            <a:spLocks/>
          </p:cNvSpPr>
          <p:nvPr/>
        </p:nvSpPr>
        <p:spPr>
          <a:xfrm>
            <a:off x="1516984" y="4779742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>
                <a:solidFill>
                  <a:srgbClr val="213163"/>
                </a:solidFill>
              </a:rPr>
              <a:t>Future Scope</a:t>
            </a:r>
            <a:endParaRPr lang="en-US" sz="2200" b="1" dirty="0">
              <a:solidFill>
                <a:srgbClr val="21316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BD7278-A38F-E1D7-9534-BB7D23A4C93B}"/>
              </a:ext>
            </a:extLst>
          </p:cNvPr>
          <p:cNvSpPr/>
          <p:nvPr/>
        </p:nvSpPr>
        <p:spPr>
          <a:xfrm>
            <a:off x="0" y="701040"/>
            <a:ext cx="12192000" cy="6156960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1183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Simple Light</vt:lpstr>
      <vt:lpstr>PowerPoint Presentation</vt:lpstr>
      <vt:lpstr>Project Objectives </vt:lpstr>
      <vt:lpstr>Problem Statement</vt:lpstr>
      <vt:lpstr>Project overview - Introduction</vt:lpstr>
      <vt:lpstr>End User</vt:lpstr>
      <vt:lpstr>Wow factor</vt:lpstr>
      <vt:lpstr>Modelling</vt:lpstr>
      <vt:lpstr>Result / Outcomes</vt:lpstr>
      <vt:lpstr>PowerPoint Presentation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Likith D.T</cp:lastModifiedBy>
  <cp:revision>33</cp:revision>
  <dcterms:created xsi:type="dcterms:W3CDTF">2024-06-24T09:04:39Z</dcterms:created>
  <dcterms:modified xsi:type="dcterms:W3CDTF">2026-10-24T07:13:26Z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